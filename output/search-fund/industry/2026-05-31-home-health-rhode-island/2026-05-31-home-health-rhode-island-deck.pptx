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651760"/>
            <a:ext cx="9448495" cy="457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Roll-Up Thesis: Home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DC3C7"/>
                </a:solidFill>
                <a:latin typeface="Calibri"/>
              </a:defRPr>
            </a:pPr>
            <a:r>
              <a:t>Rhode Island  |  2026-05-31  |  Verdict: CONDITIONAL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5A5A6"/>
                </a:solidFill>
                <a:latin typeface="Calibri"/>
              </a:defRPr>
            </a:pPr>
            <a:r>
              <a:t>Consolidating sub-scale RI home health &amp; home care operators into a regional platform (ILLUSTRATIVE SAMPLE)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Calibri"/>
              </a:defRPr>
            </a:pPr>
            <a:r>
              <a:t>Confidential  |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  <a:buChar char="•"/>
            </a:pPr>
            <a:r>
              <a:t>Rhode Island home health is highly fragmented: 185 organizational providers (NPPES) for a state of ~1.1M people, with no dominant local operator.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  <a:buChar char="•"/>
            </a:pPr>
            <a:r>
              <a:t>Demand tailwinds: aging population and payer shift toward lower-cost home-based care.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  <a:buChar char="•"/>
            </a:pPr>
            <a:r>
              <a:t>Central return driver is multiple arbitrage — acquiring sub-$1M-EBITDA operators at ~4x toward a platform exit at 8x+.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  <a:buChar char="•"/>
            </a:pPr>
            <a:r>
              <a:t>Verdict: Conditional — attractive fragmentation, pending Census revenue sizing (CENSUS_API_KEY) and reimbursement-risk diligence.</a:t>
            </a:r>
          </a:p>
          <a:p>
            <a:pPr>
              <a:spcAft>
                <a:spcPts val="800"/>
              </a:spcAft>
              <a:defRPr sz="1900">
                <a:solidFill>
                  <a:srgbClr val="333333"/>
                </a:solidFill>
                <a:latin typeface="Calibri"/>
              </a:defRPr>
              <a:buChar char="•"/>
            </a:pPr>
            <a:r>
              <a:t>All financial figures on the following slides are illustrative placeholders for template demonstration.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Overview &amp; Sizing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926080"/>
                <a:gridCol w="36576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Organizational providers (NPPES)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NPPES (live, 2026-05-31)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Establishments (CBP)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pending (no API key)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Census CBP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Est. market size (illustrative)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$0.4B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Illustrative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Est. firms in buy-box band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Derived (illustrative)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5A5A6"/>
                </a:solidFill>
                <a:latin typeface="Calibri"/>
              </a:defRPr>
            </a:pPr>
            <a:r>
              <a:t>Census establishment/revenue sizing pending a (free) CENSUS_API_KEY.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DC3C7"/>
                </a:solidFill>
                <a:latin typeface="Calibri"/>
              </a:defRPr>
            </a:pPr>
            <a:r>
              <a:t>Operators grouped by sub-segment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47548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2560320" cy="5486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36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Skilled Home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Access Healthcare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 Caring Experience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Adoration HHC RI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BAYADA (PE/strategic)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VNA Care New England (S)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560320" cy="47548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5486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36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Non-Medical Home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Assisted Daily Living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Angels Home Care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Better Life Home Care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Bayside Nursing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5486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36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Hospice / Palliative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Athena RI Hospice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VNA hospice arm (S)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463040"/>
            <a:ext cx="2560320" cy="47548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0" y="1463040"/>
            <a:ext cx="2560320" cy="54864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53619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Niche / Adjacent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BabyBloom (perinatal)</a:t>
            </a:r>
          </a:p>
          <a:p>
            <a:pPr>
              <a:spcAft>
                <a:spcPts val="800"/>
              </a:spcAft>
              <a:defRPr sz="1200">
                <a:solidFill>
                  <a:srgbClr val="333333"/>
                </a:solidFill>
                <a:latin typeface="Calibri"/>
              </a:defRPr>
              <a:buChar char="•"/>
            </a:pPr>
            <a:r>
              <a:t>Staffing-led entrants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 &amp; Fragmentation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0"/>
                <a:gridCol w="36576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Concentration Metric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Top-4 share (CR4), illustrative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~25%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Largest operator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BAYADA (multi-site)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# operators in buy-box band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~30 (illustrative)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 / strategic roll-ups active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Yes — national platforms present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937760"/>
            <a:ext cx="10698480" cy="1097280"/>
          </a:xfrm>
          <a:prstGeom prst="roundRect">
            <a:avLst/>
          </a:prstGeom>
          <a:solidFill>
            <a:srgbClr val="E8F8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Calibri"/>
              </a:defRPr>
            </a:pPr>
            <a:r>
              <a:t>Verdict: Fragmented — many independents, no dominant local player; roll-up runway present.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Value Creation Levers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75B6"/>
                </a:solidFill>
                <a:latin typeface="Calibri"/>
              </a:defRPr>
            </a:pPr>
            <a:r>
              <a:t>Buy at ~4x, build to scale, exit at ~8x+ — arbitrage plus shared G&amp;A.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029200"/>
                <a:gridCol w="274320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Lever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Mechanism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Magnitude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Multiple arbitrage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Acquire sub-$1M EBITDA at ~4x; exit platform at ~8x+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+~2x on value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Margin expansion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Centralize scheduling, billing, compliance, procurement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+300–600 bps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Organic growth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Referral density; cross-sell skilled + non-medical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+5–10%/yr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Add-on cadence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2–4 tuck-ins/yr from 185-operator 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Multi-year runway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Target Longlist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Company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Segment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Location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 (/40)</a:t>
                      </a:r>
                    </a:p>
                  </a:txBody>
                  <a:tcPr anchor="ctr">
                    <a:solidFill>
                      <a:srgbClr val="1B2A4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Access Healthcare, Inc.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Skilled HH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East Providence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IOI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Assisted Daily Living, Inc.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Non-medical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Warwick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 Caring Experience Nursing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Skilled HH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Providence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Angels Home Care LLC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Non-medical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Cranston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Contacted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Adoration HHC Rhode Island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Skilled HH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Providence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Sourced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Deal Sourcing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•"/>
            </a:pPr>
            <a:r>
              <a:t>On-market: sign NDAs with 2–3 NE healthcare M&amp;A advisors (e.g. Mertz Taggart); monitor BizBuySell weekly.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•"/>
            </a:pPr>
            <a:r>
              <a:t>Off-market: direct outreach to ~20 proprietary NPPES targets/month via mail + email.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•"/>
            </a:pPr>
            <a:r>
              <a:t>Cadence: weekly broker check-ins; monthly proprietary outreach batch; CRM in deal-pipeline workbook.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  <a:latin typeface="Calibri"/>
              </a:defRPr>
              <a:buChar char="•"/>
            </a:pPr>
            <a:r>
              <a:t>Prioritize skilled home health operators with $0.5–1.5M EBITDA and a transition-willing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353104" y="548640"/>
            <a:ext cx="5486400" cy="1097280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53104" y="6858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VERDICT: CONDITIONAL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Ideal platform: RI/southern-NE skilled home health operator, $0.75–1.5M EBITDA, owner-transition, recurring referral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926080"/>
            <a:ext cx="85340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</a:pPr>
            <a:r>
              <a:t>Obtain CENSUS_API_KEY and finalize market sizing.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</a:pPr>
            <a:r>
              <a:t>Advance Access Healthcare to IOI; diligence reimbursement &amp; payer mix.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</a:pPr>
            <a:r>
              <a:t>Build proprietary pipeline to 25+ qualified targets.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  <a:latin typeface="Calibri"/>
              </a:defRPr>
              <a:buChar char="•"/>
            </a:pPr>
            <a:r>
              <a:t>Validate exit multiples with 2 recent NE home-health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1264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5A5A6"/>
                </a:solidFill>
                <a:latin typeface="Calibri"/>
              </a:defRPr>
            </a:pPr>
            <a:r>
              <a:t>For internal use only.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